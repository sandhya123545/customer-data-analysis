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26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332720" cy="4572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DDE0FF"/>
                </a:solidFill>
                <a:latin typeface="Aptos"/>
              </a:defRPr>
            </a:pPr>
            <a:r>
              <a:t>DATA ANALYTICS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spcAft>
                <a:spcPts val="8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CUSTOMER DATA</a:t>
            </a:r>
          </a:p>
          <a:p>
            <a:pPr algn="ctr">
              <a:spcAft>
                <a:spcPts val="8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703320"/>
            <a:ext cx="9784080" cy="6400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spcAft>
                <a:spcPts val="8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Customer Behaviour | Revenue | Product Performance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120640"/>
            <a:ext cx="8503920" cy="6400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spcAft>
                <a:spcPts val="800"/>
              </a:spcAft>
              <a:defRPr sz="1800" b="0">
                <a:solidFill>
                  <a:srgbClr val="E8E9FF"/>
                </a:solidFill>
                <a:latin typeface="Aptos"/>
              </a:defRPr>
            </a:pPr>
            <a:r>
              <a:t>Tools used: MySQL and Power BI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989320"/>
            <a:ext cx="850392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spcAft>
                <a:spcPts val="800"/>
              </a:spcAft>
              <a:defRPr sz="1200" b="0">
                <a:solidFill>
                  <a:srgbClr val="FFFFFF"/>
                </a:solidFill>
                <a:latin typeface="Aptos"/>
              </a:defRPr>
            </a:pPr>
            <a:r>
              <a:t>Prepared by: G. Sandhya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C2A9D"/>
                </a:solidFill>
                <a:latin typeface="Aptos"/>
              </a:defRPr>
            </a:pPr>
            <a:r>
              <a:t>1. 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59536"/>
            <a:ext cx="10972800" cy="32004"/>
          </a:xfrm>
          <a:prstGeom prst="rect">
            <a:avLst/>
          </a:prstGeom>
          <a:solidFill>
            <a:srgbClr val="1C2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97280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F626E"/>
                </a:solidFill>
                <a:latin typeface="Aptos"/>
              </a:defRPr>
            </a:pPr>
            <a:r>
              <a:t>Purpose and business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2837"/>
                </a:solidFill>
                <a:latin typeface="Aptos"/>
              </a:defRPr>
            </a:pPr>
            <a:r>
              <a:t>•  Analyse customer shopping patterns, product quantities, revenue, payment preferences, shopping mall performance, and time-based sales.</a:t>
            </a:r>
          </a:p>
          <a:p>
            <a:pPr>
              <a:spcAft>
                <a:spcPts val="1200"/>
              </a:spcAft>
              <a:defRPr sz="1800">
                <a:solidFill>
                  <a:srgbClr val="262837"/>
                </a:solidFill>
                <a:latin typeface="Aptos"/>
              </a:defRPr>
            </a:pPr>
            <a:r>
              <a:t>•  Investigate how shopping distribution differs by gender and age group.</a:t>
            </a:r>
          </a:p>
          <a:p>
            <a:pPr>
              <a:spcAft>
                <a:spcPts val="1200"/>
              </a:spcAft>
              <a:defRPr sz="1800">
                <a:solidFill>
                  <a:srgbClr val="262837"/>
                </a:solidFill>
                <a:latin typeface="Aptos"/>
              </a:defRPr>
            </a:pPr>
            <a:r>
              <a:t>•  Identify which product categories and shopping malls contribute most to the displayed sales measures.</a:t>
            </a:r>
          </a:p>
          <a:p>
            <a:pPr>
              <a:spcAft>
                <a:spcPts val="1200"/>
              </a:spcAft>
              <a:defRPr sz="1800">
                <a:solidFill>
                  <a:srgbClr val="262837"/>
                </a:solidFill>
                <a:latin typeface="Aptos"/>
              </a:defRPr>
            </a:pPr>
            <a:r>
              <a:t>•  Build an interactive Power BI dashboard so the results can be explored using filters.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C2A9D"/>
                </a:solidFill>
                <a:latin typeface="Aptos"/>
              </a:defRPr>
            </a:pPr>
            <a:r>
              <a:t>2. 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59536"/>
            <a:ext cx="10972800" cy="32004"/>
          </a:xfrm>
          <a:prstGeom prst="rect">
            <a:avLst/>
          </a:prstGeom>
          <a:solidFill>
            <a:srgbClr val="1C2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97280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F626E"/>
                </a:solidFill>
                <a:latin typeface="Aptos"/>
              </a:defRPr>
            </a:pPr>
            <a:r>
              <a:t>Istanbul shopping transaction dataset, 2021–2023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2837"/>
                </a:solidFill>
                <a:latin typeface="Aptos"/>
              </a:defRPr>
            </a:pPr>
            <a:r>
              <a:t>•  Dataset contains 99,458 records and shopping activity from 10 malls.</a:t>
            </a:r>
          </a:p>
          <a:p>
            <a:pPr>
              <a:spcAft>
                <a:spcPts val="1200"/>
              </a:spcAft>
              <a:defRPr sz="1800">
                <a:solidFill>
                  <a:srgbClr val="262837"/>
                </a:solidFill>
                <a:latin typeface="Aptos"/>
              </a:defRPr>
            </a:pPr>
            <a:r>
              <a:t>•  Fields used: invoice_no, customer_id, gender, age, category, quantity, price, payment_method, invoice_date, shopping_mall.</a:t>
            </a:r>
          </a:p>
          <a:p>
            <a:pPr>
              <a:spcAft>
                <a:spcPts val="1200"/>
              </a:spcAft>
              <a:defRPr sz="1800">
                <a:solidFill>
                  <a:srgbClr val="262837"/>
                </a:solidFill>
                <a:latin typeface="Aptos"/>
              </a:defRPr>
            </a:pPr>
            <a:r>
              <a:t>•  The columns support customer segmentation, quantity analysis, revenue comparisons, payment-method analysis, mall comparisons, and date-based reporting.</a:t>
            </a:r>
          </a:p>
          <a:p>
            <a:pPr>
              <a:spcAft>
                <a:spcPts val="1200"/>
              </a:spcAft>
              <a:defRPr sz="1800">
                <a:solidFill>
                  <a:srgbClr val="262837"/>
                </a:solidFill>
                <a:latin typeface="Aptos"/>
              </a:defRPr>
            </a:pPr>
            <a:r>
              <a:t>•  The dataset was imported for SQL analysis and Power BI reporting.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C2A9D"/>
                </a:solidFill>
                <a:latin typeface="Aptos"/>
              </a:defRPr>
            </a:pPr>
            <a:r>
              <a:t>3. Data Quality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59536"/>
            <a:ext cx="10972800" cy="32004"/>
          </a:xfrm>
          <a:prstGeom prst="rect">
            <a:avLst/>
          </a:prstGeom>
          <a:solidFill>
            <a:srgbClr val="1C2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97280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F626E"/>
                </a:solidFill>
                <a:latin typeface="Aptos"/>
              </a:defRPr>
            </a:pPr>
            <a:r>
              <a:t>Checks performed before analysing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62837"/>
                </a:solidFill>
                <a:latin typeface="Aptos"/>
              </a:defRPr>
            </a:pPr>
            <a:r>
              <a:t>•  Checked the dataset for blank cells; the check found no blanks.</a:t>
            </a:r>
          </a:p>
          <a:p>
            <a:pPr>
              <a:spcAft>
                <a:spcPts val="1200"/>
              </a:spcAft>
              <a:defRPr sz="1800">
                <a:solidFill>
                  <a:srgbClr val="262837"/>
                </a:solidFill>
                <a:latin typeface="Aptos"/>
              </a:defRPr>
            </a:pPr>
            <a:r>
              <a:t>•  Checked for duplicate records; no duplicates were found.</a:t>
            </a:r>
          </a:p>
          <a:p>
            <a:pPr>
              <a:spcAft>
                <a:spcPts val="1200"/>
              </a:spcAft>
              <a:defRPr sz="1800">
                <a:solidFill>
                  <a:srgbClr val="262837"/>
                </a:solidFill>
                <a:latin typeface="Aptos"/>
              </a:defRPr>
            </a:pPr>
            <a:r>
              <a:t>•  Reviewed the column names and field meanings before building queries and visuals.</a:t>
            </a:r>
          </a:p>
          <a:p>
            <a:pPr>
              <a:spcAft>
                <a:spcPts val="1200"/>
              </a:spcAft>
              <a:defRPr sz="1800">
                <a:solidFill>
                  <a:srgbClr val="262837"/>
                </a:solidFill>
                <a:latin typeface="Aptos"/>
              </a:defRPr>
            </a:pPr>
            <a:r>
              <a:t>•  Important validation: invoice_date was initially imported into Power BI as text. Confirm it is converted to a Date data type before relying on the time-series chart.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C2A9D"/>
                </a:solidFill>
                <a:latin typeface="Aptos"/>
              </a:defRPr>
            </a:pPr>
            <a:r>
              <a:t>4. SQL Database &amp;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59536"/>
            <a:ext cx="10972800" cy="32004"/>
          </a:xfrm>
          <a:prstGeom prst="rect">
            <a:avLst/>
          </a:prstGeom>
          <a:solidFill>
            <a:srgbClr val="1C2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97280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F626E"/>
                </a:solidFill>
                <a:latin typeface="Aptos"/>
              </a:defRPr>
            </a:pPr>
            <a:r>
              <a:t>MySQL was used for database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2837"/>
                </a:solidFill>
                <a:latin typeface="Aptos"/>
              </a:defRPr>
            </a:pPr>
            <a:r>
              <a:t>•  Connected to the provided project database using the supplied connection details.</a:t>
            </a:r>
          </a:p>
          <a:p>
            <a:pPr>
              <a:spcAft>
                <a:spcPts val="1200"/>
              </a:spcAft>
              <a:defRPr sz="1700">
                <a:solidFill>
                  <a:srgbClr val="262837"/>
                </a:solidFill>
                <a:latin typeface="Aptos"/>
              </a:defRPr>
            </a:pPr>
            <a:r>
              <a:t>•  Worked with the customer table in the project schema; the Power BI imported table was named customer_data.</a:t>
            </a:r>
          </a:p>
          <a:p>
            <a:pPr>
              <a:spcAft>
                <a:spcPts val="1200"/>
              </a:spcAft>
              <a:defRPr sz="1700">
                <a:solidFill>
                  <a:srgbClr val="262837"/>
                </a:solidFill>
                <a:latin typeface="Aptos"/>
              </a:defRPr>
            </a:pPr>
            <a:r>
              <a:t>•  Used SQL aggregations and grouping to analyse customer distribution, quantities sold, revenue, age groups, product categories, shopping malls, and payment methods.</a:t>
            </a:r>
          </a:p>
          <a:p>
            <a:pPr>
              <a:spcAft>
                <a:spcPts val="1200"/>
              </a:spcAft>
              <a:defRPr sz="1700">
                <a:solidFill>
                  <a:srgbClr val="262837"/>
                </a:solidFill>
                <a:latin typeface="Aptos"/>
              </a:defRPr>
            </a:pPr>
            <a:r>
              <a:t>•  SQL was used to answer the business questions and support the reporting workflow.</a:t>
            </a:r>
          </a:p>
          <a:p>
            <a:pPr>
              <a:spcAft>
                <a:spcPts val="1200"/>
              </a:spcAft>
              <a:defRPr sz="1700">
                <a:solidFill>
                  <a:srgbClr val="262837"/>
                </a:solidFill>
                <a:latin typeface="Aptos"/>
              </a:defRPr>
            </a:pPr>
            <a:r>
              <a:t>•  Do not include database passwords, private host details, or other credentials in a public portfolio.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C2A9D"/>
                </a:solidFill>
                <a:latin typeface="Aptos"/>
              </a:defRPr>
            </a:pPr>
            <a:r>
              <a:t>5. Power BI Dashboard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59536"/>
            <a:ext cx="10972800" cy="32004"/>
          </a:xfrm>
          <a:prstGeom prst="rect">
            <a:avLst/>
          </a:prstGeom>
          <a:solidFill>
            <a:srgbClr val="1C2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97280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F626E"/>
                </a:solidFill>
                <a:latin typeface="Aptos"/>
              </a:defRPr>
            </a:pPr>
            <a:r>
              <a:t>How the final report was organised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2837"/>
                </a:solidFill>
                <a:latin typeface="Aptos"/>
              </a:defRPr>
            </a:pPr>
            <a:r>
              <a:t>•  Imported the analysis data into Power BI and created ten visuals across the analysis pages.</a:t>
            </a:r>
          </a:p>
          <a:p>
            <a:pPr>
              <a:spcAft>
                <a:spcPts val="1200"/>
              </a:spcAft>
              <a:defRPr sz="1700">
                <a:solidFill>
                  <a:srgbClr val="262837"/>
                </a:solidFill>
                <a:latin typeface="Aptos"/>
              </a:defRPr>
            </a:pPr>
            <a:r>
              <a:t>•  Built a final dashboard page with a deep-blue/purple header and KPI cards.</a:t>
            </a:r>
          </a:p>
          <a:p>
            <a:pPr>
              <a:spcAft>
                <a:spcPts val="1200"/>
              </a:spcAft>
              <a:defRPr sz="1700">
                <a:solidFill>
                  <a:srgbClr val="262837"/>
                </a:solidFill>
                <a:latin typeface="Aptos"/>
              </a:defRPr>
            </a:pPr>
            <a:r>
              <a:t>•  Added Gender and Shopping Mall slicers to interactively filter the report.</a:t>
            </a:r>
          </a:p>
          <a:p>
            <a:pPr>
              <a:spcAft>
                <a:spcPts val="1200"/>
              </a:spcAft>
              <a:defRPr sz="1700">
                <a:solidFill>
                  <a:srgbClr val="262837"/>
                </a:solidFill>
                <a:latin typeface="Aptos"/>
              </a:defRPr>
            </a:pPr>
            <a:r>
              <a:t>•  Used a consistent colour theme and arranged the charts in a grid for quick comparison.</a:t>
            </a:r>
          </a:p>
          <a:p>
            <a:pPr>
              <a:spcAft>
                <a:spcPts val="1200"/>
              </a:spcAft>
              <a:defRPr sz="1700">
                <a:solidFill>
                  <a:srgbClr val="262837"/>
                </a:solidFill>
                <a:latin typeface="Aptos"/>
              </a:defRPr>
            </a:pPr>
            <a:r>
              <a:t>•  The screenshot pages that follow show the actual dashboard you provided.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C2A9D"/>
                </a:solidFill>
                <a:latin typeface="Aptos"/>
              </a:defRPr>
            </a:pPr>
            <a:r>
              <a:t>6. Actual Dashboard — Full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59536"/>
            <a:ext cx="10972800" cy="32004"/>
          </a:xfrm>
          <a:prstGeom prst="rect">
            <a:avLst/>
          </a:prstGeom>
          <a:solidFill>
            <a:srgbClr val="1C2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97280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F626E"/>
                </a:solidFill>
                <a:latin typeface="Aptos"/>
              </a:defRPr>
            </a:pPr>
            <a:r>
              <a:t>Screenshot supplied from your Power BI report</a:t>
            </a:r>
          </a:p>
        </p:txBody>
      </p:sp>
      <p:pic>
        <p:nvPicPr>
          <p:cNvPr id="6" name="Picture 5" descr="image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490" y="1234440"/>
            <a:ext cx="9866715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C2A9D"/>
                </a:solidFill>
                <a:latin typeface="Aptos"/>
              </a:defRPr>
            </a:pPr>
            <a:r>
              <a:t>7. Dashboard Screenshot — KPIs &amp; Filters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59536"/>
            <a:ext cx="10972800" cy="32004"/>
          </a:xfrm>
          <a:prstGeom prst="rect">
            <a:avLst/>
          </a:prstGeom>
          <a:solidFill>
            <a:srgbClr val="1C2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97280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F626E"/>
                </a:solidFill>
                <a:latin typeface="Aptos"/>
              </a:defRPr>
            </a:pPr>
            <a:r>
              <a:t>Actual screenshot crop: headline indicators and slicers</a:t>
            </a:r>
          </a:p>
        </p:txBody>
      </p:sp>
      <p:pic>
        <p:nvPicPr>
          <p:cNvPr id="6" name="Picture 5" descr="dashboard_top_kpis_fil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54480"/>
            <a:ext cx="10972800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3749039"/>
            <a:ext cx="10698480" cy="1463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62837"/>
                </a:solidFill>
                <a:latin typeface="Aptos"/>
              </a:defRPr>
            </a:pPr>
            <a:r>
              <a:t>KPIs shown: Total Revenue ₹251.51M • Products sold 299K • Sum of price 68.55M • Total Transactions 99.457K</a:t>
            </a:r>
          </a:p>
          <a:p>
            <a:pPr>
              <a:spcAft>
                <a:spcPts val="800"/>
              </a:spcAft>
              <a:defRPr sz="1900" b="0">
                <a:solidFill>
                  <a:srgbClr val="262837"/>
                </a:solidFill>
                <a:latin typeface="Aptos"/>
              </a:defRPr>
            </a:pPr>
            <a:r>
              <a:t>Filters: Gender (Female / Male) and Shopping Mall.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C2A9D"/>
                </a:solidFill>
                <a:latin typeface="Aptos"/>
              </a:defRPr>
            </a:pPr>
            <a:r>
              <a:t>8. Dashboard Screenshot — Customer &amp; Product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59536"/>
            <a:ext cx="10972800" cy="32004"/>
          </a:xfrm>
          <a:prstGeom prst="rect">
            <a:avLst/>
          </a:prstGeom>
          <a:solidFill>
            <a:srgbClr val="1C2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97280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F626E"/>
                </a:solidFill>
                <a:latin typeface="Aptos"/>
              </a:defRPr>
            </a:pPr>
            <a:r>
              <a:t>Actual screenshot crop: first row of charts</a:t>
            </a:r>
          </a:p>
        </p:txBody>
      </p:sp>
      <p:pic>
        <p:nvPicPr>
          <p:cNvPr id="6" name="Picture 5" descr="dashboard_top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0972800" cy="3337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4983480"/>
            <a:ext cx="10698480" cy="8229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62837"/>
                </a:solidFill>
                <a:latin typeface="Aptos"/>
              </a:defRPr>
            </a:pPr>
            <a:r>
              <a:t>Charts include shopping distribution by gender, revenue by age group, products sold by age group, products sold by category, and revenue by gender.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C2A9D"/>
                </a:solidFill>
                <a:latin typeface="Aptos"/>
              </a:defRPr>
            </a:pPr>
            <a:r>
              <a:t>9. Dashboard Screenshot — Mall, Age, Time &amp; Payment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59536"/>
            <a:ext cx="10972800" cy="32004"/>
          </a:xfrm>
          <a:prstGeom prst="rect">
            <a:avLst/>
          </a:prstGeom>
          <a:solidFill>
            <a:srgbClr val="1C2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97280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F626E"/>
                </a:solidFill>
                <a:latin typeface="Aptos"/>
              </a:defRPr>
            </a:pPr>
            <a:r>
              <a:t>Actual screenshot crop: second row of charts</a:t>
            </a:r>
          </a:p>
        </p:txBody>
      </p:sp>
      <p:pic>
        <p:nvPicPr>
          <p:cNvPr id="6" name="Picture 5" descr="dashboard_bottom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10972800" cy="3337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4983480"/>
            <a:ext cx="10698480" cy="9144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62837"/>
                </a:solidFill>
                <a:latin typeface="Aptos"/>
              </a:defRPr>
            </a:pPr>
            <a:r>
              <a:t>Charts include products sold by gender, revenue by shopping mall, shopping distribution by age, revenue over time, and transactions by payment method.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C2A9D"/>
                </a:solidFill>
                <a:latin typeface="Aptos"/>
              </a:defRPr>
            </a:pPr>
            <a:r>
              <a:t>10. Ten Visualisations in the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59536"/>
            <a:ext cx="10972800" cy="32004"/>
          </a:xfrm>
          <a:prstGeom prst="rect">
            <a:avLst/>
          </a:prstGeom>
          <a:solidFill>
            <a:srgbClr val="1C2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97280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F626E"/>
                </a:solidFill>
                <a:latin typeface="Aptos"/>
              </a:defRPr>
            </a:pPr>
            <a:r>
              <a:t>What each chart is intended to show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262837"/>
                </a:solidFill>
                <a:latin typeface="Aptos"/>
              </a:defRPr>
            </a:pPr>
            <a:r>
              <a:t>•  Shopping distribution by gender — compares Female and Male shopping counts.</a:t>
            </a:r>
          </a:p>
          <a:p>
            <a:pPr>
              <a:spcAft>
                <a:spcPts val="1200"/>
              </a:spcAft>
              <a:defRPr sz="1400">
                <a:solidFill>
                  <a:srgbClr val="262837"/>
                </a:solidFill>
                <a:latin typeface="Aptos"/>
              </a:defRPr>
            </a:pPr>
            <a:r>
              <a:t>•  Total revenue by age group — compares revenue across age bands.</a:t>
            </a:r>
          </a:p>
          <a:p>
            <a:pPr>
              <a:spcAft>
                <a:spcPts val="1200"/>
              </a:spcAft>
              <a:defRPr sz="1400">
                <a:solidFill>
                  <a:srgbClr val="262837"/>
                </a:solidFill>
                <a:latin typeface="Aptos"/>
              </a:defRPr>
            </a:pPr>
            <a:r>
              <a:t>•  Total products sold by age group — compares quantity across age bands.</a:t>
            </a:r>
          </a:p>
          <a:p>
            <a:pPr>
              <a:spcAft>
                <a:spcPts val="1200"/>
              </a:spcAft>
              <a:defRPr sz="1400">
                <a:solidFill>
                  <a:srgbClr val="262837"/>
                </a:solidFill>
                <a:latin typeface="Aptos"/>
              </a:defRPr>
            </a:pPr>
            <a:r>
              <a:t>•  Total products sold by category — compares product-category quantities.</a:t>
            </a:r>
          </a:p>
          <a:p>
            <a:pPr>
              <a:spcAft>
                <a:spcPts val="1200"/>
              </a:spcAft>
              <a:defRPr sz="1400">
                <a:solidFill>
                  <a:srgbClr val="262837"/>
                </a:solidFill>
                <a:latin typeface="Aptos"/>
              </a:defRPr>
            </a:pPr>
            <a:r>
              <a:t>•  Total revenue by gender — compares revenue between genders.</a:t>
            </a:r>
          </a:p>
          <a:p>
            <a:pPr>
              <a:spcAft>
                <a:spcPts val="1200"/>
              </a:spcAft>
              <a:defRPr sz="1400">
                <a:solidFill>
                  <a:srgbClr val="262837"/>
                </a:solidFill>
                <a:latin typeface="Aptos"/>
              </a:defRPr>
            </a:pPr>
            <a:r>
              <a:t>•  Total products sold by gender — compares quantity between genders.</a:t>
            </a:r>
          </a:p>
          <a:p>
            <a:pPr>
              <a:spcAft>
                <a:spcPts val="1200"/>
              </a:spcAft>
              <a:defRPr sz="1400">
                <a:solidFill>
                  <a:srgbClr val="262837"/>
                </a:solidFill>
                <a:latin typeface="Aptos"/>
              </a:defRPr>
            </a:pPr>
            <a:r>
              <a:t>•  Revenue by shopping mall — compares revenue across malls.</a:t>
            </a:r>
          </a:p>
          <a:p>
            <a:pPr>
              <a:spcAft>
                <a:spcPts val="1200"/>
              </a:spcAft>
              <a:defRPr sz="1400">
                <a:solidFill>
                  <a:srgbClr val="262837"/>
                </a:solidFill>
                <a:latin typeface="Aptos"/>
              </a:defRPr>
            </a:pPr>
            <a:r>
              <a:t>•  Shopping distribution by age — shows shopping counts by age.</a:t>
            </a:r>
          </a:p>
          <a:p>
            <a:pPr>
              <a:spcAft>
                <a:spcPts val="1200"/>
              </a:spcAft>
              <a:defRPr sz="1400">
                <a:solidFill>
                  <a:srgbClr val="262837"/>
                </a:solidFill>
                <a:latin typeface="Aptos"/>
              </a:defRPr>
            </a:pPr>
            <a:r>
              <a:t>•  Revenue over time — examines revenue by date/time period.</a:t>
            </a:r>
          </a:p>
          <a:p>
            <a:pPr>
              <a:spcAft>
                <a:spcPts val="1200"/>
              </a:spcAft>
              <a:defRPr sz="1400">
                <a:solidFill>
                  <a:srgbClr val="262837"/>
                </a:solidFill>
                <a:latin typeface="Aptos"/>
              </a:defRPr>
            </a:pPr>
            <a:r>
              <a:t>•  Transactions by payment method — compares Cash, Credit Card, and Debit Card.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C2A9D"/>
                </a:solidFill>
                <a:latin typeface="Aptos"/>
              </a:defRPr>
            </a:pPr>
            <a:r>
              <a:t>11. Findings Visible in the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59536"/>
            <a:ext cx="10972800" cy="32004"/>
          </a:xfrm>
          <a:prstGeom prst="rect">
            <a:avLst/>
          </a:prstGeom>
          <a:solidFill>
            <a:srgbClr val="1C2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97280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F626E"/>
                </a:solidFill>
                <a:latin typeface="Aptos"/>
              </a:defRPr>
            </a:pPr>
            <a:r>
              <a:t>Descriptive observations from the 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262837"/>
                </a:solidFill>
                <a:latin typeface="Aptos"/>
              </a:defRPr>
            </a:pPr>
            <a:r>
              <a:t>•  Shopping distribution is about 59K for Female customers and 40K for Male customers.</a:t>
            </a:r>
          </a:p>
          <a:p>
            <a:pPr>
              <a:spcAft>
                <a:spcPts val="1200"/>
              </a:spcAft>
              <a:defRPr sz="1500">
                <a:solidFill>
                  <a:srgbClr val="262837"/>
                </a:solidFill>
                <a:latin typeface="Aptos"/>
              </a:defRPr>
            </a:pPr>
            <a:r>
              <a:t>•  Products sold are about 179K for Female customers and 120K for Male customers.</a:t>
            </a:r>
          </a:p>
          <a:p>
            <a:pPr>
              <a:spcAft>
                <a:spcPts val="1200"/>
              </a:spcAft>
              <a:defRPr sz="1500">
                <a:solidFill>
                  <a:srgbClr val="262837"/>
                </a:solidFill>
                <a:latin typeface="Aptos"/>
              </a:defRPr>
            </a:pPr>
            <a:r>
              <a:t>•  Revenue by gender is displayed at approximately ₹150M for Female customers and ₹101M for Male customers.</a:t>
            </a:r>
          </a:p>
          <a:p>
            <a:pPr>
              <a:spcAft>
                <a:spcPts val="1200"/>
              </a:spcAft>
              <a:defRPr sz="1500">
                <a:solidFill>
                  <a:srgbClr val="262837"/>
                </a:solidFill>
                <a:latin typeface="Aptos"/>
              </a:defRPr>
            </a:pPr>
            <a:r>
              <a:t>•  Clothing is the largest category in the quantity chart at about 104K, followed by Cosmetics (about 45K) and Food &amp; Beverage (about 44K).</a:t>
            </a:r>
          </a:p>
          <a:p>
            <a:pPr>
              <a:spcAft>
                <a:spcPts val="1200"/>
              </a:spcAft>
              <a:defRPr sz="1500">
                <a:solidFill>
                  <a:srgbClr val="262837"/>
                </a:solidFill>
                <a:latin typeface="Aptos"/>
              </a:defRPr>
            </a:pPr>
            <a:r>
              <a:t>•  Cash is the most common payment method shown (about 44.45K transactions), followed by Credit Card (34.93K) and Debit Card (20.08K).</a:t>
            </a:r>
          </a:p>
          <a:p>
            <a:pPr>
              <a:spcAft>
                <a:spcPts val="1200"/>
              </a:spcAft>
              <a:defRPr sz="1500">
                <a:solidFill>
                  <a:srgbClr val="262837"/>
                </a:solidFill>
                <a:latin typeface="Aptos"/>
              </a:defRPr>
            </a:pPr>
            <a:r>
              <a:t>•  The largest age-group quantity block shown is 56+ at about 80K; verify age-group definitions before presenting this as a final conclusion.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C2A9D"/>
                </a:solidFill>
                <a:latin typeface="Aptos"/>
              </a:defRPr>
            </a:pPr>
            <a:r>
              <a:t>12. Additional Observations &amp; Validation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59536"/>
            <a:ext cx="10972800" cy="32004"/>
          </a:xfrm>
          <a:prstGeom prst="rect">
            <a:avLst/>
          </a:prstGeom>
          <a:solidFill>
            <a:srgbClr val="1C2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97280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F626E"/>
                </a:solidFill>
                <a:latin typeface="Aptos"/>
              </a:defRPr>
            </a:pPr>
            <a:r>
              <a:t>Checks needed before drawing firm conclusions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262837"/>
                </a:solidFill>
                <a:latin typeface="Aptos"/>
              </a:defRPr>
            </a:pPr>
            <a:r>
              <a:t>•  The leading mall bar is approximately ₹51M; the next displayed bars are around ₹50M and ₹37M.</a:t>
            </a:r>
          </a:p>
          <a:p>
            <a:pPr>
              <a:spcAft>
                <a:spcPts val="1200"/>
              </a:spcAft>
              <a:defRPr sz="1600">
                <a:solidFill>
                  <a:srgbClr val="262837"/>
                </a:solidFill>
                <a:latin typeface="Aptos"/>
              </a:defRPr>
            </a:pPr>
            <a:r>
              <a:t>•  Revenue over time looks nearly flat around ₹26K in the screenshot. Validate the date field, aggregation, and chart granularity.</a:t>
            </a:r>
          </a:p>
          <a:p>
            <a:pPr>
              <a:spcAft>
                <a:spcPts val="1200"/>
              </a:spcAft>
              <a:defRPr sz="1600">
                <a:solidFill>
                  <a:srgbClr val="262837"/>
                </a:solidFill>
                <a:latin typeface="Aptos"/>
              </a:defRPr>
            </a:pPr>
            <a:r>
              <a:t>•  The Total Revenue KPI (₹251.51M) differs from Sum of price (68.55M). Confirm the exact measure definitions before explaining the difference.</a:t>
            </a:r>
          </a:p>
          <a:p>
            <a:pPr>
              <a:spcAft>
                <a:spcPts val="1200"/>
              </a:spcAft>
              <a:defRPr sz="1600">
                <a:solidFill>
                  <a:srgbClr val="262837"/>
                </a:solidFill>
                <a:latin typeface="Aptos"/>
              </a:defRPr>
            </a:pPr>
            <a:r>
              <a:t>•  The transaction KPI displays 99.457K while the dataset has 99,458 rows; this may be a display-rounding/measure issue to verify.</a:t>
            </a:r>
          </a:p>
          <a:p>
            <a:pPr>
              <a:spcAft>
                <a:spcPts val="1200"/>
              </a:spcAft>
              <a:defRPr sz="1600">
                <a:solidFill>
                  <a:srgbClr val="262837"/>
                </a:solidFill>
                <a:latin typeface="Aptos"/>
              </a:defRPr>
            </a:pPr>
            <a:r>
              <a:t>•  These are descriptive patterns in this dataset, not proof of what caused customer behaviour.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C2A9D"/>
                </a:solidFill>
                <a:latin typeface="Aptos"/>
              </a:defRPr>
            </a:pPr>
            <a:r>
              <a:t>13. Recommendations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59536"/>
            <a:ext cx="10972800" cy="32004"/>
          </a:xfrm>
          <a:prstGeom prst="rect">
            <a:avLst/>
          </a:prstGeom>
          <a:solidFill>
            <a:srgbClr val="1C2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97280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F626E"/>
                </a:solidFill>
                <a:latin typeface="Aptos"/>
              </a:defRPr>
            </a:pPr>
            <a:r>
              <a:t>Possible actions supported by the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2837"/>
                </a:solidFill>
                <a:latin typeface="Aptos"/>
              </a:defRPr>
            </a:pPr>
            <a:r>
              <a:t>•  Use the slicers to compare genders and shopping malls before making segment-specific decisions.</a:t>
            </a:r>
          </a:p>
          <a:p>
            <a:pPr>
              <a:spcAft>
                <a:spcPts val="1200"/>
              </a:spcAft>
              <a:defRPr sz="1700">
                <a:solidFill>
                  <a:srgbClr val="262837"/>
                </a:solidFill>
                <a:latin typeface="Aptos"/>
              </a:defRPr>
            </a:pPr>
            <a:r>
              <a:t>•  Review Clothing demand and inventory availability because Clothing leads the displayed quantity chart.</a:t>
            </a:r>
          </a:p>
          <a:p>
            <a:pPr>
              <a:spcAft>
                <a:spcPts val="1200"/>
              </a:spcAft>
              <a:defRPr sz="1700">
                <a:solidFill>
                  <a:srgbClr val="262837"/>
                </a:solidFill>
                <a:latin typeface="Aptos"/>
              </a:defRPr>
            </a:pPr>
            <a:r>
              <a:t>•  Ensure cash, credit-card, and debit-card payment options remain available; cash has the highest count in the chart.</a:t>
            </a:r>
          </a:p>
          <a:p>
            <a:pPr>
              <a:spcAft>
                <a:spcPts val="1200"/>
              </a:spcAft>
              <a:defRPr sz="1700">
                <a:solidFill>
                  <a:srgbClr val="262837"/>
                </a:solidFill>
                <a:latin typeface="Aptos"/>
              </a:defRPr>
            </a:pPr>
            <a:r>
              <a:t>•  Compare mall revenue with footfall, store size, promotions, and operating costs before recommending investment changes.</a:t>
            </a:r>
          </a:p>
          <a:p>
            <a:pPr>
              <a:spcAft>
                <a:spcPts val="1200"/>
              </a:spcAft>
              <a:defRPr sz="1700">
                <a:solidFill>
                  <a:srgbClr val="262837"/>
                </a:solidFill>
                <a:latin typeface="Aptos"/>
              </a:defRPr>
            </a:pPr>
            <a:r>
              <a:t>•  Improve chart label readability and validate the time-series measure before presenting final business conclusions.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C2A9D"/>
                </a:solidFill>
                <a:latin typeface="Aptos"/>
              </a:defRPr>
            </a:pPr>
            <a:r>
              <a:t>14.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859536"/>
            <a:ext cx="10972800" cy="32004"/>
          </a:xfrm>
          <a:prstGeom prst="rect">
            <a:avLst/>
          </a:prstGeom>
          <a:solidFill>
            <a:srgbClr val="1C2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941832"/>
            <a:ext cx="10972800" cy="36576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F626E"/>
                </a:solidFill>
                <a:latin typeface="Aptos"/>
              </a:defRPr>
            </a:pPr>
            <a:r>
              <a:t>Project outcome and skills demonstrated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 rIns="7315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62837"/>
                </a:solidFill>
                <a:latin typeface="Aptos"/>
              </a:defRPr>
            </a:pPr>
            <a:r>
              <a:t>•  Combined MySQL analysis and Power BI visualisation into a retail customer-sales analysis project.</a:t>
            </a:r>
          </a:p>
          <a:p>
            <a:pPr>
              <a:spcAft>
                <a:spcPts val="1200"/>
              </a:spcAft>
              <a:defRPr sz="1700">
                <a:solidFill>
                  <a:srgbClr val="262837"/>
                </a:solidFill>
                <a:latin typeface="Aptos"/>
              </a:defRPr>
            </a:pPr>
            <a:r>
              <a:t>•  Created an interactive dashboard covering customer segments, product categories, payment methods, shopping malls, and time-based reporting.</a:t>
            </a:r>
          </a:p>
          <a:p>
            <a:pPr>
              <a:spcAft>
                <a:spcPts val="1200"/>
              </a:spcAft>
              <a:defRPr sz="1700">
                <a:solidFill>
                  <a:srgbClr val="262837"/>
                </a:solidFill>
                <a:latin typeface="Aptos"/>
              </a:defRPr>
            </a:pPr>
            <a:r>
              <a:t>•  Practised data-quality checking, SQL aggregation, visual design, KPI reporting, and communicating business observations.</a:t>
            </a:r>
          </a:p>
          <a:p>
            <a:pPr>
              <a:spcAft>
                <a:spcPts val="1200"/>
              </a:spcAft>
              <a:defRPr sz="1700">
                <a:solidFill>
                  <a:srgbClr val="262837"/>
                </a:solidFill>
                <a:latin typeface="Aptos"/>
              </a:defRPr>
            </a:pPr>
            <a:r>
              <a:t>•  Before submission, validate the revenue measures and date-based chart, then save the PPT and dashboard files together.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B1F69"/>
                </a:solidFill>
                <a:latin typeface="Aptos"/>
              </a:defRPr>
            </a:pPr>
            <a:r>
              <a:t>15. SQL Query Logic — Gender &amp; Product Quantity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14400" cy="50292"/>
          </a:xfrm>
          <a:prstGeom prst="rect">
            <a:avLst/>
          </a:prstGeom>
          <a:solidFill>
            <a:srgbClr val="70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72800" cy="32004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96C7E"/>
                </a:solidFill>
                <a:latin typeface="Aptos"/>
              </a:defRPr>
            </a:pPr>
            <a:r>
              <a:t>Examples of the aggregation logic used in the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5486400" cy="32004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B1F69"/>
                </a:solidFill>
                <a:latin typeface="Aptos"/>
              </a:defRPr>
            </a:pPr>
            <a:r>
              <a:t>Example: compare quantity sold by gender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6035040" cy="1828800"/>
          </a:xfrm>
          <a:prstGeom prst="roundRect">
            <a:avLst/>
          </a:prstGeom>
          <a:solidFill>
            <a:srgbClr val="18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5577840" cy="132588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SELECT gender, SUM(quantity) AS products_sold</a:t>
            </a:r>
          </a:p>
          <a:p>
            <a:pPr>
              <a:spcAft>
                <a:spcPts val="5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FROM customer</a:t>
            </a:r>
          </a:p>
          <a:p>
            <a:pPr>
              <a:spcAft>
                <a:spcPts val="5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GROUP BY gender</a:t>
            </a:r>
          </a:p>
          <a:p>
            <a:pPr>
              <a:spcAft>
                <a:spcPts val="500"/>
              </a:spcAft>
              <a:defRPr sz="1500" b="0">
                <a:solidFill>
                  <a:srgbClr val="FFFFFF"/>
                </a:solidFill>
                <a:latin typeface="Consolas"/>
              </a:defRPr>
            </a:pPr>
            <a:r>
              <a:t>ORDER BY products_sold DESC;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1737360"/>
            <a:ext cx="3383280" cy="32004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B1F69"/>
                </a:solidFill>
                <a:latin typeface="Aptos"/>
              </a:defRPr>
            </a:pPr>
            <a:r>
              <a:t>How to explain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148840"/>
            <a:ext cx="3657600" cy="182880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2A37"/>
                </a:solidFill>
                <a:latin typeface="Aptos"/>
              </a:defRPr>
            </a:pPr>
            <a:r>
              <a:t>SUM(quantity) adds the quantity values for each gender. GROUP BY creates one result per gender. The output can be compared with the Power BI “Products sold by gender” chart.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029200"/>
            <a:ext cx="10515600" cy="45720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96C7E"/>
                </a:solidFill>
                <a:latin typeface="Aptos"/>
              </a:defRPr>
            </a:pPr>
            <a:r>
              <a:t>This is a representative query pattern. Use your saved SQL script if you need to show the exact query submitted.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B1F69"/>
                </a:solidFill>
                <a:latin typeface="Aptos"/>
              </a:defRPr>
            </a:pPr>
            <a:r>
              <a:t>16. SQL Query Logic — Category &amp; Mall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14400" cy="50292"/>
          </a:xfrm>
          <a:prstGeom prst="rect">
            <a:avLst/>
          </a:prstGeom>
          <a:solidFill>
            <a:srgbClr val="70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72800" cy="32004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96C7E"/>
                </a:solidFill>
                <a:latin typeface="Aptos"/>
              </a:defRPr>
            </a:pPr>
            <a:r>
              <a:t>Group by category or mall to compare product demand and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4937760" cy="32004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B1F69"/>
                </a:solidFill>
                <a:latin typeface="Aptos"/>
              </a:defRPr>
            </a:pPr>
            <a:r>
              <a:t>Category quantity pattern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5577840" cy="1600200"/>
          </a:xfrm>
          <a:prstGeom prst="roundRect">
            <a:avLst/>
          </a:prstGeom>
          <a:solidFill>
            <a:srgbClr val="18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12848"/>
            <a:ext cx="5303520" cy="114300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SELECT category, SUM(quantity) AS products_sold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FROM customer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GROUP BY category</a:t>
            </a:r>
          </a:p>
          <a:p>
            <a:pPr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ORDER BY products_sold DESC;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554480"/>
            <a:ext cx="4114800" cy="32004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B1F69"/>
                </a:solidFill>
                <a:latin typeface="Aptos"/>
              </a:defRPr>
            </a:pPr>
            <a:r>
              <a:t>Mall revenue pattern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12280" y="1965960"/>
            <a:ext cx="4572000" cy="1600200"/>
          </a:xfrm>
          <a:prstGeom prst="roundRect">
            <a:avLst/>
          </a:prstGeom>
          <a:solidFill>
            <a:srgbClr val="18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95160" y="2212848"/>
            <a:ext cx="4206240" cy="114300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SELECT shopping_mall, SUM(price) AS sum_price</a:t>
            </a:r>
          </a:p>
          <a:p>
            <a:pPr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FROM customer</a:t>
            </a:r>
          </a:p>
          <a:p>
            <a:pPr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GROUP BY shopping_mall</a:t>
            </a:r>
          </a:p>
          <a:p>
            <a:pPr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ORDER BY sum_price DESC;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51960"/>
            <a:ext cx="10515600" cy="91440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282A37"/>
                </a:solidFill>
                <a:latin typeface="Aptos"/>
              </a:defRPr>
            </a:pPr>
            <a:r>
              <a:t>Measure note: if revenue is defined as quantity × price, use that validated measure instead of SUM(price). These examples illustrate query structure, not necessarily the exact saved SQL text.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B1F69"/>
                </a:solidFill>
                <a:latin typeface="Aptos"/>
              </a:defRPr>
            </a:pPr>
            <a:r>
              <a:t>17. SQL Query Logic — Payment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14400" cy="50292"/>
          </a:xfrm>
          <a:prstGeom prst="rect">
            <a:avLst/>
          </a:prstGeom>
          <a:solidFill>
            <a:srgbClr val="70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72800" cy="32004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96C7E"/>
                </a:solidFill>
                <a:latin typeface="Aptos"/>
              </a:defRPr>
            </a:pPr>
            <a:r>
              <a:t>Recorded query used to count transactions by payment method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7315200" cy="2103120"/>
          </a:xfrm>
          <a:prstGeom prst="roundRect">
            <a:avLst/>
          </a:prstGeom>
          <a:solidFill>
            <a:srgbClr val="181B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6858000" cy="137160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SELECT payment_method, COUNT(*) AS total_transactions</a:t>
            </a:r>
          </a:p>
          <a:p>
            <a:pPr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FROM customer</a:t>
            </a:r>
          </a:p>
          <a:p>
            <a:pPr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GROUP BY payment_method</a:t>
            </a:r>
          </a:p>
          <a:p>
            <a:pPr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ORDER BY total_transactions DESC;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200" y="1828800"/>
            <a:ext cx="2468880" cy="32004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B1F69"/>
                </a:solidFill>
                <a:latin typeface="Aptos"/>
              </a:defRPr>
            </a:pPr>
            <a:r>
              <a:t>What it 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2286000"/>
            <a:ext cx="2560320" cy="155448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2A37"/>
                </a:solidFill>
                <a:latin typeface="Aptos"/>
              </a:defRPr>
            </a:pPr>
            <a:r>
              <a:t>Counts records for each payment method, then sorts from highest count to lowest. It supports the “Transactions by payment method” chart.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572000"/>
            <a:ext cx="10424160" cy="45720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99291"/>
                </a:solidFill>
                <a:latin typeface="Aptos"/>
              </a:defRPr>
            </a:pPr>
            <a:r>
              <a:t>Displayed result: Cash is highest, followed by Credit Card and Debit Card.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B1F69"/>
                </a:solidFill>
                <a:latin typeface="Aptos"/>
              </a:defRPr>
            </a:pPr>
            <a:r>
              <a:t>18. Every Power BI Visual — Explanation 1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14400" cy="50292"/>
          </a:xfrm>
          <a:prstGeom prst="rect">
            <a:avLst/>
          </a:prstGeom>
          <a:solidFill>
            <a:srgbClr val="70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72800" cy="32004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96C7E"/>
                </a:solidFill>
                <a:latin typeface="Aptos"/>
              </a:defRPr>
            </a:pPr>
            <a:r>
              <a:t>Customer, age and category visuals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3291840" cy="27432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B1F69"/>
                </a:solidFill>
                <a:latin typeface="Aptos"/>
              </a:defRPr>
            </a:pPr>
            <a:r>
              <a:t>1. Shopping distribution by gender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417320"/>
            <a:ext cx="7223760" cy="50292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2A37"/>
                </a:solidFill>
                <a:latin typeface="Aptos"/>
              </a:defRPr>
            </a:pPr>
            <a:r>
              <a:t>Compares shopping/transaction counts for Female and Male customers.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50008"/>
            <a:ext cx="3291840" cy="27432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B1F69"/>
                </a:solidFill>
                <a:latin typeface="Aptos"/>
              </a:defRPr>
            </a:pPr>
            <a:r>
              <a:t>2. Total revenue by age group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350008"/>
            <a:ext cx="7223760" cy="50292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2A37"/>
                </a:solidFill>
                <a:latin typeface="Aptos"/>
              </a:defRPr>
            </a:pPr>
            <a:r>
              <a:t>Compares the displayed revenue measure across age bands.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82696"/>
            <a:ext cx="3291840" cy="27432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B1F69"/>
                </a:solidFill>
                <a:latin typeface="Aptos"/>
              </a:defRPr>
            </a:pPr>
            <a:r>
              <a:t>3. Products sold by age group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282696"/>
            <a:ext cx="7223760" cy="50292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2A37"/>
                </a:solidFill>
                <a:latin typeface="Aptos"/>
              </a:defRPr>
            </a:pPr>
            <a:r>
              <a:t>Treemap size represents product quantity by age group.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15384"/>
            <a:ext cx="3291840" cy="27432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B1F69"/>
                </a:solidFill>
                <a:latin typeface="Aptos"/>
              </a:defRPr>
            </a:pPr>
            <a:r>
              <a:t>4. Products sold by 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4215384"/>
            <a:ext cx="7223760" cy="50292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2A37"/>
                </a:solidFill>
                <a:latin typeface="Aptos"/>
              </a:defRPr>
            </a:pPr>
            <a:r>
              <a:t>Shows which categories account for more units; Clothing is the largest shown.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48072"/>
            <a:ext cx="3291840" cy="27432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B1F69"/>
                </a:solidFill>
                <a:latin typeface="Aptos"/>
              </a:defRPr>
            </a:pPr>
            <a:r>
              <a:t>5. Total revenue by gender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5148072"/>
            <a:ext cx="7223760" cy="50292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2A37"/>
                </a:solidFill>
                <a:latin typeface="Aptos"/>
              </a:defRPr>
            </a:pPr>
            <a:r>
              <a:t>Compares the displayed revenue measure between gender groups.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B1F69"/>
                </a:solidFill>
                <a:latin typeface="Aptos"/>
              </a:defRPr>
            </a:pPr>
            <a:r>
              <a:t>19. Every Power BI Visual — Explanation 2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14400" cy="50292"/>
          </a:xfrm>
          <a:prstGeom prst="rect">
            <a:avLst/>
          </a:prstGeom>
          <a:solidFill>
            <a:srgbClr val="70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72800" cy="32004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96C7E"/>
                </a:solidFill>
                <a:latin typeface="Aptos"/>
              </a:defRPr>
            </a:pPr>
            <a:r>
              <a:t>Gender quantity, mall revenue, age distribution, trend and 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3337560" cy="27432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B1F69"/>
                </a:solidFill>
                <a:latin typeface="Aptos"/>
              </a:defRPr>
            </a:pPr>
            <a:r>
              <a:t>6. Products sold by gender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1417320"/>
            <a:ext cx="7132320" cy="50292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2A37"/>
                </a:solidFill>
                <a:latin typeface="Aptos"/>
              </a:defRPr>
            </a:pPr>
            <a:r>
              <a:t>Compares the total quantity for Female and Male customers.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50008"/>
            <a:ext cx="3337560" cy="27432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B1F69"/>
                </a:solidFill>
                <a:latin typeface="Aptos"/>
              </a:defRPr>
            </a:pPr>
            <a:r>
              <a:t>7. Revenue by shopping mall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2350008"/>
            <a:ext cx="7132320" cy="50292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2A37"/>
                </a:solidFill>
                <a:latin typeface="Aptos"/>
              </a:defRPr>
            </a:pPr>
            <a:r>
              <a:t>Compares the revenue measure across the ten shopping malls.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82696"/>
            <a:ext cx="3337560" cy="27432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B1F69"/>
                </a:solidFill>
                <a:latin typeface="Aptos"/>
              </a:defRPr>
            </a:pPr>
            <a:r>
              <a:t>8. Shopping distribution by 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3282696"/>
            <a:ext cx="7132320" cy="50292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2A37"/>
                </a:solidFill>
                <a:latin typeface="Aptos"/>
              </a:defRPr>
            </a:pPr>
            <a:r>
              <a:t>Shows how shopping counts vary by 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15384"/>
            <a:ext cx="3337560" cy="27432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B1F69"/>
                </a:solidFill>
                <a:latin typeface="Aptos"/>
              </a:defRPr>
            </a:pPr>
            <a:r>
              <a:t>9. Revenue over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4215384"/>
            <a:ext cx="7132320" cy="50292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2A37"/>
                </a:solidFill>
                <a:latin typeface="Aptos"/>
              </a:defRPr>
            </a:pPr>
            <a:r>
              <a:t>Intended to show changes over time; the date type and axis need validation.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148072"/>
            <a:ext cx="3337560" cy="27432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B1F69"/>
                </a:solidFill>
                <a:latin typeface="Aptos"/>
              </a:defRPr>
            </a:pPr>
            <a:r>
              <a:t>10. Transactions by payment method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5148072"/>
            <a:ext cx="7132320" cy="50292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2A37"/>
                </a:solidFill>
                <a:latin typeface="Aptos"/>
              </a:defRPr>
            </a:pPr>
            <a:r>
              <a:t>Compares Cash, Credit Card and Debit Card transaction counts.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B1F69"/>
                </a:solidFill>
                <a:latin typeface="Aptos"/>
              </a:defRPr>
            </a:pPr>
            <a:r>
              <a:t>20. How to Present the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14400" cy="50292"/>
          </a:xfrm>
          <a:prstGeom prst="rect">
            <a:avLst/>
          </a:prstGeom>
          <a:solidFill>
            <a:srgbClr val="70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72800" cy="32004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96C7E"/>
                </a:solidFill>
                <a:latin typeface="Aptos"/>
              </a:defRPr>
            </a:pPr>
            <a:r>
              <a:t>A simple speaking guide for explaining the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2A37"/>
                </a:solidFill>
                <a:latin typeface="Aptos"/>
              </a:defRPr>
            </a:pPr>
            <a:r>
              <a:t>•  Start with the four KPI cards to describe the overall scale shown in the report.</a:t>
            </a:r>
          </a:p>
          <a:p>
            <a:pPr>
              <a:spcAft>
                <a:spcPts val="1000"/>
              </a:spcAft>
              <a:defRPr sz="1500">
                <a:solidFill>
                  <a:srgbClr val="282A37"/>
                </a:solidFill>
                <a:latin typeface="Aptos"/>
              </a:defRPr>
            </a:pPr>
            <a:r>
              <a:t>•  Explain that Gender and Shopping Mall are slicers; changing them filters the visuals.</a:t>
            </a:r>
          </a:p>
          <a:p>
            <a:pPr>
              <a:spcAft>
                <a:spcPts val="1000"/>
              </a:spcAft>
              <a:defRPr sz="1500">
                <a:solidFill>
                  <a:srgbClr val="282A37"/>
                </a:solidFill>
                <a:latin typeface="Aptos"/>
              </a:defRPr>
            </a:pPr>
            <a:r>
              <a:t>•  Move from customer comparisons to product-category demand, then payment method and mall revenue.</a:t>
            </a:r>
          </a:p>
          <a:p>
            <a:pPr>
              <a:spcAft>
                <a:spcPts val="1000"/>
              </a:spcAft>
              <a:defRPr sz="1500">
                <a:solidFill>
                  <a:srgbClr val="282A37"/>
                </a:solidFill>
                <a:latin typeface="Aptos"/>
              </a:defRPr>
            </a:pPr>
            <a:r>
              <a:t>•  Use the screenshot observations as approximate values unless you have validated the exact underlying measures.</a:t>
            </a:r>
          </a:p>
          <a:p>
            <a:pPr>
              <a:spcAft>
                <a:spcPts val="1000"/>
              </a:spcAft>
              <a:defRPr sz="1500">
                <a:solidFill>
                  <a:srgbClr val="282A37"/>
                </a:solidFill>
                <a:latin typeface="Aptos"/>
              </a:defRPr>
            </a:pPr>
            <a:r>
              <a:t>•  Finish by mentioning the date and revenue-measure validation checks so the audience understands the limitations.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B1F69"/>
                </a:solidFill>
                <a:latin typeface="Aptos"/>
              </a:defRPr>
            </a:pPr>
            <a:r>
              <a:t>21. Findings — Detailed Interpretation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14400" cy="50292"/>
          </a:xfrm>
          <a:prstGeom prst="rect">
            <a:avLst/>
          </a:prstGeom>
          <a:solidFill>
            <a:srgbClr val="70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72800" cy="32004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96C7E"/>
                </a:solidFill>
                <a:latin typeface="Aptos"/>
              </a:defRPr>
            </a:pPr>
            <a:r>
              <a:t>What the visible charts suggest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2A37"/>
                </a:solidFill>
                <a:latin typeface="Aptos"/>
              </a:defRPr>
            </a:pPr>
            <a:r>
              <a:t>•  Female customers appear higher than male customers in shopping counts, product quantity and the displayed revenue measure.</a:t>
            </a:r>
          </a:p>
          <a:p>
            <a:pPr>
              <a:spcAft>
                <a:spcPts val="1000"/>
              </a:spcAft>
              <a:defRPr sz="1500">
                <a:solidFill>
                  <a:srgbClr val="282A37"/>
                </a:solidFill>
                <a:latin typeface="Aptos"/>
              </a:defRPr>
            </a:pPr>
            <a:r>
              <a:t>•  Clothing is the largest product category by quantity in the screenshot; Cosmetics and Food &amp; Beverage follow.</a:t>
            </a:r>
          </a:p>
          <a:p>
            <a:pPr>
              <a:spcAft>
                <a:spcPts val="1000"/>
              </a:spcAft>
              <a:defRPr sz="1500">
                <a:solidFill>
                  <a:srgbClr val="282A37"/>
                </a:solidFill>
                <a:latin typeface="Aptos"/>
              </a:defRPr>
            </a:pPr>
            <a:r>
              <a:t>•  Cash has the highest transaction count in the payment-method visual, followed by credit and debit cards.</a:t>
            </a:r>
          </a:p>
          <a:p>
            <a:pPr>
              <a:spcAft>
                <a:spcPts val="1000"/>
              </a:spcAft>
              <a:defRPr sz="1500">
                <a:solidFill>
                  <a:srgbClr val="282A37"/>
                </a:solidFill>
                <a:latin typeface="Aptos"/>
              </a:defRPr>
            </a:pPr>
            <a:r>
              <a:t>•  Revenue differs across malls; the top bars appear near ₹51M and ₹50M in the screenshot.</a:t>
            </a:r>
          </a:p>
          <a:p>
            <a:pPr>
              <a:spcAft>
                <a:spcPts val="1000"/>
              </a:spcAft>
              <a:defRPr sz="1500">
                <a:solidFill>
                  <a:srgbClr val="282A37"/>
                </a:solidFill>
                <a:latin typeface="Aptos"/>
              </a:defRPr>
            </a:pPr>
            <a:r>
              <a:t>•  The age-group visuals show variation, but the exact age bands and measure definitions should be confirmed before stating a firm ranking.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B1F69"/>
                </a:solidFill>
                <a:latin typeface="Aptos"/>
              </a:defRPr>
            </a:pPr>
            <a:r>
              <a:t>22. KPI Definitions &amp; Final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14400" cy="50292"/>
          </a:xfrm>
          <a:prstGeom prst="rect">
            <a:avLst/>
          </a:prstGeom>
          <a:solidFill>
            <a:srgbClr val="70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72800" cy="32004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96C7E"/>
                </a:solidFill>
                <a:latin typeface="Aptos"/>
              </a:defRPr>
            </a:pPr>
            <a:r>
              <a:t>Checks to make before presenting the dashboard as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2A37"/>
                </a:solidFill>
                <a:latin typeface="Aptos"/>
              </a:defRPr>
            </a:pPr>
            <a:r>
              <a:t>•  Total Revenue is shown as ₹251.51M; Sum of price is shown as 68.55M. Confirm how each measure is calculated.</a:t>
            </a:r>
          </a:p>
          <a:p>
            <a:pPr>
              <a:spcAft>
                <a:spcPts val="1000"/>
              </a:spcAft>
              <a:defRPr sz="1500">
                <a:solidFill>
                  <a:srgbClr val="282A37"/>
                </a:solidFill>
                <a:latin typeface="Aptos"/>
              </a:defRPr>
            </a:pPr>
            <a:r>
              <a:t>•  Products sold is shown as 299K. Confirm that the measure sums quantity, rather than counting rows.</a:t>
            </a:r>
          </a:p>
          <a:p>
            <a:pPr>
              <a:spcAft>
                <a:spcPts val="1000"/>
              </a:spcAft>
              <a:defRPr sz="1500">
                <a:solidFill>
                  <a:srgbClr val="282A37"/>
                </a:solidFill>
                <a:latin typeface="Aptos"/>
              </a:defRPr>
            </a:pPr>
            <a:r>
              <a:t>•  Total Transactions is displayed as 99.457K, while the dataset has 99,458 rows. Check the count measure and display rounding.</a:t>
            </a:r>
          </a:p>
          <a:p>
            <a:pPr>
              <a:spcAft>
                <a:spcPts val="1000"/>
              </a:spcAft>
              <a:defRPr sz="1500">
                <a:solidFill>
                  <a:srgbClr val="282A37"/>
                </a:solidFill>
                <a:latin typeface="Aptos"/>
              </a:defRPr>
            </a:pPr>
            <a:r>
              <a:t>•  Convert invoice_date from text to Date/DateTime and verify the revenue-over-time chart uses a useful date granularity.</a:t>
            </a:r>
          </a:p>
          <a:p>
            <a:pPr>
              <a:spcAft>
                <a:spcPts val="1000"/>
              </a:spcAft>
              <a:defRPr sz="1500">
                <a:solidFill>
                  <a:srgbClr val="282A37"/>
                </a:solidFill>
                <a:latin typeface="Aptos"/>
              </a:defRPr>
            </a:pPr>
            <a:r>
              <a:t>•  Check the age-group boundaries, axis labels, currency units and any truncated labels.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B1F69"/>
                </a:solidFill>
                <a:latin typeface="Aptos"/>
              </a:defRPr>
            </a:pPr>
            <a:r>
              <a:t>23. Recommendations &amp;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14400" cy="50292"/>
          </a:xfrm>
          <a:prstGeom prst="rect">
            <a:avLst/>
          </a:prstGeom>
          <a:solidFill>
            <a:srgbClr val="70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72800" cy="32004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96C7E"/>
                </a:solidFill>
                <a:latin typeface="Aptos"/>
              </a:defRPr>
            </a:pPr>
            <a:r>
              <a:t>Responsible use of the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607040" cy="4754880"/>
          </a:xfrm>
          <a:prstGeom prst="rect">
            <a:avLst/>
          </a:prstGeom>
          <a:noFill/>
        </p:spPr>
        <p:txBody>
          <a:bodyPr wrap="square" lIns="54864" rIns="54864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2A37"/>
                </a:solidFill>
                <a:latin typeface="Aptos"/>
              </a:defRPr>
            </a:pPr>
            <a:r>
              <a:t>•  Review Clothing inventory and availability because it leads the quantity chart.</a:t>
            </a:r>
          </a:p>
          <a:p>
            <a:pPr>
              <a:spcAft>
                <a:spcPts val="1000"/>
              </a:spcAft>
              <a:defRPr sz="1500">
                <a:solidFill>
                  <a:srgbClr val="282A37"/>
                </a:solidFill>
                <a:latin typeface="Aptos"/>
              </a:defRPr>
            </a:pPr>
            <a:r>
              <a:t>•  Continue supporting all three payment methods; the observed payment distribution alone does not explain customer preference.</a:t>
            </a:r>
          </a:p>
          <a:p>
            <a:pPr>
              <a:spcAft>
                <a:spcPts val="1000"/>
              </a:spcAft>
              <a:defRPr sz="1500">
                <a:solidFill>
                  <a:srgbClr val="282A37"/>
                </a:solidFill>
                <a:latin typeface="Aptos"/>
              </a:defRPr>
            </a:pPr>
            <a:r>
              <a:t>•  Use slicers to compare genders and malls, then validate findings against additional business data before taking action.</a:t>
            </a:r>
          </a:p>
          <a:p>
            <a:pPr>
              <a:spcAft>
                <a:spcPts val="1000"/>
              </a:spcAft>
              <a:defRPr sz="1500">
                <a:solidFill>
                  <a:srgbClr val="282A37"/>
                </a:solidFill>
                <a:latin typeface="Aptos"/>
              </a:defRPr>
            </a:pPr>
            <a:r>
              <a:t>•  Compare mall revenue with footfall, store size, promotions and operating costs before recommending resource allocation.</a:t>
            </a:r>
          </a:p>
          <a:p>
            <a:pPr>
              <a:spcAft>
                <a:spcPts val="1000"/>
              </a:spcAft>
              <a:defRPr sz="1500">
                <a:solidFill>
                  <a:srgbClr val="282A37"/>
                </a:solidFill>
                <a:latin typeface="Aptos"/>
              </a:defRPr>
            </a:pPr>
            <a:r>
              <a:t>•  The project is descriptive: it shows patterns in this dataset but cannot prove causation or explain customer motivation.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1B1F69"/>
                </a:solidFill>
                <a:latin typeface="Aptos"/>
              </a:defRPr>
            </a:pPr>
            <a:r>
              <a:t>24. Final Project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14400" cy="50292"/>
          </a:xfrm>
          <a:prstGeom prst="rect">
            <a:avLst/>
          </a:prstGeom>
          <a:solidFill>
            <a:srgbClr val="704A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33271"/>
            <a:ext cx="10972800" cy="32004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100" b="0">
                <a:solidFill>
                  <a:srgbClr val="696C7E"/>
                </a:solidFill>
                <a:latin typeface="Aptos"/>
              </a:defRPr>
            </a:pPr>
            <a:r>
              <a:t>The end-to-end work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600200"/>
            <a:ext cx="2103120" cy="32004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704ABE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108960" cy="59436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2A37"/>
                </a:solidFill>
                <a:latin typeface="Aptos"/>
              </a:defRPr>
            </a:pPr>
            <a:r>
              <a:t>99,458 rows • 10 malls • 2021–2023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600200"/>
            <a:ext cx="1828800" cy="32004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199291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011680"/>
            <a:ext cx="3017520" cy="109728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2A37"/>
                </a:solidFill>
                <a:latin typeface="Aptos"/>
              </a:defRPr>
            </a:pPr>
            <a:r>
              <a:t>MySQL schema project_customer_segmentation; table customer; aggregation and grouping across business questions.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600200"/>
            <a:ext cx="1828800" cy="32004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DDA02D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011680"/>
            <a:ext cx="3200400" cy="109728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282A37"/>
                </a:solidFill>
                <a:latin typeface="Aptos"/>
              </a:defRPr>
            </a:pPr>
            <a:r>
              <a:t>10 visuals, KPI cards, Gender and Shopping Mall slicers, and multiple report pages.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77639"/>
            <a:ext cx="1828800" cy="32004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B1F69"/>
                </a:solidFill>
                <a:latin typeface="Aptos"/>
              </a:defRPr>
            </a:pPr>
            <a:r>
              <a:t>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34840"/>
            <a:ext cx="10332720" cy="914400"/>
          </a:xfrm>
          <a:prstGeom prst="rect">
            <a:avLst/>
          </a:prstGeom>
          <a:noFill/>
        </p:spPr>
        <p:txBody>
          <a:bodyPr wrap="square" lIns="64008" rIns="64008" tIns="54864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282A37"/>
                </a:solidFill>
                <a:latin typeface="Aptos"/>
              </a:defRPr>
            </a:pPr>
            <a:r>
              <a:t>The project combines SQL-based analysis and Power BI visualisation to compare customer behaviour, product demand, payment choices, mall revenue and time-based reporting.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7315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spcAft>
                <a:spcPts val="800"/>
              </a:spcAft>
              <a:defRPr sz="36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2926080"/>
            <a:ext cx="9784080" cy="7315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spcAft>
                <a:spcPts val="800"/>
              </a:spcAft>
              <a:defRPr sz="2000" b="0">
                <a:solidFill>
                  <a:srgbClr val="E6E8FF"/>
                </a:solidFill>
                <a:latin typeface="Aptos"/>
              </a:defRPr>
            </a:pPr>
            <a:r>
              <a:t>Customer Data Analysis | MySQL + Power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937760"/>
            <a:ext cx="9418320" cy="6400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spcAft>
                <a:spcPts val="8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